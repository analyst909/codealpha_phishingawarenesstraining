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1005840"/>
            <a:ext cx="2103120" cy="2103120"/>
          </a:xfrm>
          <a:prstGeom prst="ellipse">
            <a:avLst/>
          </a:prstGeom>
          <a:noFill/>
          <a:ln w="3810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" name="Oval 2"/>
          <p:cNvSpPr/>
          <p:nvPr/>
        </p:nvSpPr>
        <p:spPr>
          <a:xfrm>
            <a:off x="9144000" y="1828800"/>
            <a:ext cx="1600200" cy="1600200"/>
          </a:xfrm>
          <a:prstGeom prst="ellipse">
            <a:avLst/>
          </a:prstGeom>
          <a:noFill/>
          <a:ln w="3810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4" name="Oval 3"/>
          <p:cNvSpPr/>
          <p:nvPr/>
        </p:nvSpPr>
        <p:spPr>
          <a:xfrm>
            <a:off x="8778240" y="2880360"/>
            <a:ext cx="1097280" cy="1097280"/>
          </a:xfrm>
          <a:prstGeom prst="ellipse">
            <a:avLst/>
          </a:prstGeom>
          <a:noFill/>
          <a:ln w="3810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6858000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35D0D6"/>
                </a:solidFill>
                <a:latin typeface="Aptos"/>
              </a:defRPr>
            </a:pPr>
            <a:r>
              <a:rPr/>
              <a:t>CODEALPHA  /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680960" cy="137160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8FAFD"/>
                </a:solidFill>
                <a:latin typeface="Aptos"/>
              </a:defRPr>
            </a:pPr>
            <a:r>
              <a:rPr/>
              <a:t>PHISHING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8FAFD"/>
                </a:solidFill>
                <a:latin typeface="Aptos"/>
              </a:defRPr>
            </a:pPr>
            <a:r>
              <a:rPr/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04088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C3D2E5"/>
                </a:solidFill>
                <a:latin typeface="Aptos"/>
              </a:defRPr>
            </a:pPr>
            <a:r>
              <a:rPr/>
              <a:t>Spot the signs. Stop the click. Protect your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6400800" cy="36576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35D0D6"/>
                </a:solidFill>
                <a:latin typeface="Aptos"/>
              </a:defRPr>
            </a:pPr>
            <a:r>
              <a:rPr/>
              <a:t>Training presentation • Students &amp; general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6400800" cy="22860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A5B5CB"/>
                </a:solidFill>
                <a:latin typeface="Aptos"/>
              </a:defRPr>
            </a:pPr>
            <a:r>
              <a:rPr/>
              <a:t>Prepared for CodeAlpha internship task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A5B5CB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01 / 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By the end of this short session, you should be able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3520440" cy="22402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58952" y="24780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6ABF"/>
                </a:solidFill>
                <a:latin typeface="Aptos"/>
              </a:defRPr>
            </a:pPr>
            <a:r>
              <a:rPr/>
              <a:t>01  RECOGNISE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98648"/>
            <a:ext cx="3191256" cy="154533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Spot suspicious messages, links, attachments, and fake sign-in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520440" cy="22402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7992" y="24780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02 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898648"/>
            <a:ext cx="3191256" cy="154533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Explain how urgency, fear, curiosity, and trust are used to manipulate people.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331720"/>
            <a:ext cx="3520440" cy="22402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57031" y="24780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03  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898648"/>
            <a:ext cx="3191256" cy="154533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Verify requests safely, report suspected phishing, and act quickly after a mistake.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01 /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What is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A common social-engineering attack that targets people, not just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486400" cy="12344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1F2B3D"/>
                </a:solidFill>
                <a:latin typeface="Aptos"/>
              </a:defRPr>
            </a:pPr>
            <a:r>
              <a:rPr/>
              <a:t>Phishing is a deceptive message or website designed to trick someone into revealing information, opening a harmful file, sending money, or giving an attacker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148840"/>
            <a:ext cx="4754880" cy="10058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793992" y="2295144"/>
            <a:ext cx="44256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6ABF"/>
                </a:solidFill>
                <a:latin typeface="Aptos"/>
              </a:defRPr>
            </a:pPr>
            <a:r>
              <a:rPr/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715768"/>
            <a:ext cx="442569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Fake delivery notices, account alerts, or password-reset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401568"/>
            <a:ext cx="4754880" cy="10058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793992" y="3547872"/>
            <a:ext cx="44256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SMS / MESSAGING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968496"/>
            <a:ext cx="442569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Unexpected texts or chats with urgent links (often called smishing).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654296"/>
            <a:ext cx="4754880" cy="10058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793992" y="4800600"/>
            <a:ext cx="44256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VOICE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5221224"/>
            <a:ext cx="442569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Calls impersonating support staff, banks, or officials (vishing).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02 / HOW ATTACKERS PERSUADE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rPr/>
              <a:t>Social engineering: pressure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BCCCE0"/>
                </a:solidFill>
                <a:latin typeface="Aptos"/>
              </a:defRPr>
            </a:pPr>
            <a:r>
              <a:rPr/>
              <a:t>Attackers try to make a fast emotional reaction replace careful checking.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520440" cy="141732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04671" y="238658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807208"/>
            <a:ext cx="3191256" cy="72237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“Your account will close in 10 minutes.”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40280"/>
            <a:ext cx="3520440" cy="141732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C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7992" y="238658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807208"/>
            <a:ext cx="3191256" cy="72237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“A suspicious login was detected.”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520440" cy="141732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11312" y="238658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807208"/>
            <a:ext cx="3191256" cy="72237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Pretending to be a teacher, friend, bank, or IT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4069080"/>
            <a:ext cx="3520440" cy="141732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633472" y="421538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CURIOSITY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4636008"/>
            <a:ext cx="3191256" cy="72237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“See the attached result/photo.”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3520440" cy="141732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E2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82512" y="421538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636008"/>
            <a:ext cx="3191256" cy="72237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“Claim your free gift or scholarship.”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A5B5CB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03 / INSPECT THE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Red flags in phishing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One clue alone may not prove fraud. Look for several clues and verify independently.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492240" cy="3840480"/>
          </a:xfrm>
          <a:prstGeom prst="roundRect">
            <a:avLst/>
          </a:prstGeom>
          <a:solidFill>
            <a:srgbClr val="EFF4FA"/>
          </a:solidFill>
          <a:ln>
            <a:solidFill>
              <a:srgbClr val="C3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594360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F2B3D"/>
                </a:solidFill>
                <a:latin typeface="Aptos"/>
              </a:defRPr>
            </a:pPr>
            <a:r>
              <a:rPr/>
              <a:t>From: Campus Support &lt;support-campus-alert.example&gt;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94360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CA4048"/>
                </a:solidFill>
                <a:latin typeface="Aptos"/>
              </a:defRPr>
            </a:pPr>
            <a:r>
              <a:rPr/>
              <a:t>Subject: URGENT — mailbox disabled today!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852160" cy="137160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Your mailbox will be deleted in 10 minutes. Click the link below and enter your password to keep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5943600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76ABF"/>
                </a:solidFill>
                <a:latin typeface="Aptos"/>
              </a:defRPr>
            </a:pPr>
            <a:r>
              <a:rPr/>
              <a:t>[Example link intentionally not clickable]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594360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A4048"/>
                </a:solidFill>
                <a:latin typeface="Aptos"/>
              </a:defRPr>
            </a:pPr>
            <a:r>
              <a:rPr/>
              <a:t>Notice: pressure, generic wording, unusual sender domain, and a password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148840"/>
            <a:ext cx="3886200" cy="384048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76ABF"/>
                </a:solidFill>
                <a:latin typeface="Aptos"/>
              </a:defRPr>
            </a:pPr>
            <a:r>
              <a:rPr/>
              <a:t>CHECK THESE CLUES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651760"/>
            <a:ext cx="3977639" cy="3200400"/>
          </a:xfrm>
          <a:prstGeom prst="rect">
            <a:avLst/>
          </a:prstGeom>
          <a:noFill/>
        </p:spPr>
        <p:txBody>
          <a:bodyPr wrap="square" tIns="32004" lIns="73152" rIns="73152" bIns="32004" anchor="ctr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rPr/>
              <a:t>•  Sender address does not match the claimed organisation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rPr/>
              <a:t>•  Unexpected urgency or threats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rPr/>
              <a:t>•  Greeting or details are vague or inconsistent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rPr/>
              <a:t>•  Links or attachments you did not expect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rPr/>
              <a:t>•  Requests for passwords, codes, or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03 / INSPECT THE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How to spot a fake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A professional-looking page can still be fraudulent.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23774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04671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6ABF"/>
                </a:solidFill>
                <a:latin typeface="Aptos"/>
              </a:defRPr>
            </a:pPr>
            <a:r>
              <a:rPr/>
              <a:t>CHECK THE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3191256" cy="16824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Read the full domain carefully. Watch for misspellings, extra words, and misleading subdomains.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3520440" cy="23774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7992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DON'T TRUST THE PADLOCK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15768"/>
            <a:ext cx="3191256" cy="16824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HTTPS encrypts the connection; it does not prove the site is honest.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48840"/>
            <a:ext cx="3520440" cy="237744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11312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VERIFY OUTSIDE THE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715768"/>
            <a:ext cx="3191256" cy="16824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2B3D"/>
                </a:solidFill>
                <a:latin typeface="Aptos"/>
              </a:defRPr>
            </a:pPr>
            <a:r>
              <a:rPr/>
              <a:t>Open the official app or type a known address yourself. Do not use the message link.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698480" cy="59436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CA4048"/>
                </a:solidFill>
                <a:latin typeface="Aptos"/>
              </a:defRPr>
            </a:pPr>
            <a:r>
              <a:rPr/>
              <a:t>Example: “university-login.example” is not automatically official just because it contains the word “university.”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04 / REAL-WORLD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rPr/>
              <a:t>Common phishing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BCCCE0"/>
                </a:solidFill>
                <a:latin typeface="Aptos"/>
              </a:defRPr>
            </a:pPr>
            <a:r>
              <a:rPr/>
              <a:t>These are illustrative examples based on common attack patterns, not claims about a named victim.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24231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04671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15768"/>
            <a:ext cx="3191256" cy="172821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A message promises a scholarship but asks for a processing fee and student portal password.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3520440" cy="24231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7992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ONLINE SHOPPER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15768"/>
            <a:ext cx="3191256" cy="172821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A fake delivery text says a parcel is held and demands a small fee through an unfamiliar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48840"/>
            <a:ext cx="3520440" cy="24231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E2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11312" y="229514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JOB SEEKER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715768"/>
            <a:ext cx="3191256" cy="172821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rPr/>
              <a:t>A recruiter sends an unexpected attachment and asks for ID and bank details before an interview.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698480" cy="45720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rPr/>
              <a:t>Safe response: pause, verify using a separate trusted channel, and report the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A5B5CB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05 / STAY SAFER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A practical anti-phishing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Use this routine before you click, sign in, download, or pay.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6583680" cy="4023360"/>
          </a:xfrm>
          <a:prstGeom prst="rect">
            <a:avLst/>
          </a:prstGeom>
          <a:noFill/>
        </p:spPr>
        <p:txBody>
          <a:bodyPr wrap="square" tIns="32004" lIns="73152" rIns="73152" bIns="32004" anchor="ctr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Pause when a message creates urgency, fear, or excitement.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Verify the sender and request through a known contact method.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Inspect the full web address before entering information.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Never share passwords or one-time verification codes in response to an unexpected message.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Use unique passwords and enable multi-factor authentication (MFA).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Keep devices, browsers, and security software updated.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rPr/>
              <a:t>•  Report suspicious messages using your school, service, or organisation’s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423160"/>
            <a:ext cx="3383280" cy="242316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074152" y="2569464"/>
            <a:ext cx="30540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THE 3-STEP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990088"/>
            <a:ext cx="3054096" cy="172821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1F2B3D"/>
                </a:solidFill>
                <a:latin typeface="Aptos"/>
              </a:defRPr>
            </a:pPr>
            <a:r>
              <a:rPr/>
              <a:t>STOP — don’t act under pressure.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1F2B3D"/>
                </a:solidFill>
                <a:latin typeface="Aptos"/>
              </a:defRPr>
            </a:pPr>
            <a:r>
              <a:rPr/>
              <a:t>CHECK — verify independently.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1F2B3D"/>
                </a:solidFill>
                <a:latin typeface="Aptos"/>
              </a:defRPr>
            </a:pPr>
            <a:r>
              <a:rPr/>
              <a:t>REPORT — alert the right service or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06 / IF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If you clicked or shared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Act quickly. A mistake is a reason to respond, not a reason to hide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0440" cy="210312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04671" y="22494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6ABF"/>
                </a:solidFill>
                <a:latin typeface="Aptos"/>
              </a:defRPr>
            </a:pPr>
            <a:r>
              <a:rPr/>
              <a:t>1 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70048"/>
            <a:ext cx="3191256" cy="140817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B3D"/>
                </a:solidFill>
                <a:latin typeface="Aptos"/>
              </a:defRPr>
            </a:pPr>
            <a:r>
              <a:rPr/>
              <a:t>Close the page. Do not download, approve prompts, or continue the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520440" cy="210312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C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7992" y="22494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CA4048"/>
                </a:solidFill>
                <a:latin typeface="Aptos"/>
              </a:defRPr>
            </a:pPr>
            <a:r>
              <a:rPr/>
              <a:t>2  SECURE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670048"/>
            <a:ext cx="3191256" cy="140817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B3D"/>
                </a:solidFill>
                <a:latin typeface="Aptos"/>
              </a:defRPr>
            </a:pPr>
            <a:r>
              <a:rPr/>
              <a:t>From a trusted device, change the affected password and any reused passwords; enable MFA.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520440" cy="210312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11312" y="2249424"/>
            <a:ext cx="31912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3 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70048"/>
            <a:ext cx="3191256" cy="140817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B3D"/>
                </a:solidFill>
                <a:latin typeface="Aptos"/>
              </a:defRPr>
            </a:pPr>
            <a:r>
              <a:rPr/>
              <a:t>Tell the relevant school, service provider, bank, or IT/security contact promptly.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424160" cy="68580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F2B3D"/>
                </a:solidFill>
                <a:latin typeface="Aptos"/>
              </a:defRPr>
            </a:pPr>
            <a:r>
              <a:rPr/>
              <a:t>If money or banking details were involved, contact your bank immediately. Preserve the message and details for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07 /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rPr/>
              <a:t>Quick quiz  | 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BCCCE0"/>
                </a:solidFill>
                <a:latin typeface="Aptos"/>
              </a:defRPr>
            </a:pPr>
            <a:r>
              <a:rPr/>
              <a:t>Choose the best answer. Discuss your reasoning before revealing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F8FAFD"/>
                </a:solidFill>
                <a:latin typeface="Aptos"/>
              </a:defRPr>
            </a:pPr>
            <a:r>
              <a:rPr/>
              <a:t>You receive an unexpected message: “Your account closes in 5 minutes. Sign in here.” What should you do first?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10287000" cy="475488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78992" y="3483864"/>
            <a:ext cx="995781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904487"/>
            <a:ext cx="995781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8FAFD"/>
                </a:solidFill>
                <a:latin typeface="Aptos"/>
              </a:defRPr>
            </a:pPr>
            <a:r>
              <a:rPr/>
              <a:t>Click immediately so you do not lose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287000" cy="475488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78992" y="4078224"/>
            <a:ext cx="995781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498848"/>
            <a:ext cx="995781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8FAFD"/>
                </a:solidFill>
                <a:latin typeface="Aptos"/>
              </a:defRPr>
            </a:pPr>
            <a:r>
              <a:rPr/>
              <a:t>Reply with your password to confirm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26280"/>
            <a:ext cx="10287000" cy="475488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78992" y="4672584"/>
            <a:ext cx="995781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093208"/>
            <a:ext cx="995781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8FAFD"/>
                </a:solidFill>
                <a:latin typeface="Aptos"/>
              </a:defRPr>
            </a:pPr>
            <a:r>
              <a:rPr/>
              <a:t>Open the official app/site separately and verify the alert.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10287000" cy="475488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E2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78992" y="5266944"/>
            <a:ext cx="995781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687568"/>
            <a:ext cx="9957816" cy="310896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8FAFD"/>
                </a:solidFill>
                <a:latin typeface="Aptos"/>
              </a:defRPr>
            </a:pPr>
            <a:r>
              <a:rPr/>
              <a:t>Forward it to friends to ask whether it looks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A5B5CB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QUIZ 1 | SPOT THE PHISH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1417320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37160" bIns="109728">
            <a:normAutofit/>
          </a:bodyPr>
          <a:lstStyle/>
          <a:p>
            <a:pPr algn="ctr">
              <a:defRPr sz="2200">
                <a:solidFill>
                  <a:srgbClr val="FFFFFF"/>
                </a:solidFill>
                <a:latin typeface="Aptos"/>
              </a:defRPr>
            </a:pPr>
            <a:r>
              <a:t>You receive an email saying your student account will be closed in 10 minutes unless you sign in through a link. What should you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A. Click quickly to save the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B. Reply with your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C. Verify through the official school website or IT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D. Forward it to classmates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>
                <a:solidFill>
                  <a:srgbClr val="B4C4D8"/>
                </a:solidFill>
                <a:latin typeface="Aptos"/>
              </a:defRPr>
            </a:pPr>
            <a:r>
              <a:t>Choose the safest response. Answers are on the final answer-key slide.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QUIZ 2 | CHECK THE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1417320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37160" bIns="109728">
            <a:normAutofit/>
          </a:bodyPr>
          <a:lstStyle/>
          <a:p>
            <a:pPr algn="ctr">
              <a:defRPr sz="2200">
                <a:solidFill>
                  <a:srgbClr val="FFFFFF"/>
                </a:solidFill>
                <a:latin typeface="Aptos"/>
              </a:defRPr>
            </a:pPr>
            <a:r>
              <a:t>A message links to your bank, but the address contains a misspelling and extra words. What is the safest choice?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A. Trust it because the page has a 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B. Avoid the link; open the bank’s official app or type its known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C. Enter fake details to test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D. Share it to ask friends to 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>
                <a:solidFill>
                  <a:srgbClr val="B4C4D8"/>
                </a:solidFill>
                <a:latin typeface="Aptos"/>
              </a:defRPr>
            </a:pPr>
            <a:r>
              <a:t>Choose the safest response. Answers are on the final answer-key slide.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QUIZ 3 | SOCIAL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1417320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37160" bIns="109728">
            <a:normAutofit/>
          </a:bodyPr>
          <a:lstStyle/>
          <a:p>
            <a:pPr algn="ctr">
              <a:defRPr sz="2200">
                <a:solidFill>
                  <a:srgbClr val="FFFFFF"/>
                </a:solidFill>
                <a:latin typeface="Aptos"/>
              </a:defRPr>
            </a:pPr>
            <a:r>
              <a:t>A caller claims to be IT support and asks for your one-time verification code. What should you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A. Give the code if they know your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852928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B. Ask them to wait, then send the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C. Refuse and contact IT using a trusted contact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160520"/>
            <a:ext cx="5367528" cy="1024128"/>
          </a:xfrm>
          <a:prstGeom prst="roundRect">
            <a:avLst/>
          </a:prstGeom>
          <a:solidFill>
            <a:srgbClr val="1C2F4C"/>
          </a:solidFill>
          <a:ln>
            <a:solidFill>
              <a:srgbClr val="41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>
            <a:norm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D. Post the code in the class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>
                <a:solidFill>
                  <a:srgbClr val="B4C4D8"/>
                </a:solidFill>
                <a:latin typeface="Aptos"/>
              </a:defRPr>
            </a:pPr>
            <a:r>
              <a:t>Choose the safest response. Answers are on the final answer-key slide.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07 /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76ABF"/>
                </a:solidFill>
                <a:latin typeface="Aptos"/>
              </a:defRPr>
            </a:pPr>
            <a:r>
              <a:rPr/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D1B34"/>
                </a:solidFill>
                <a:latin typeface="Aptos"/>
              </a:defRPr>
            </a:pPr>
            <a:r>
              <a:rPr/>
              <a:t>Quiz answers and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F6F84"/>
                </a:solidFill>
                <a:latin typeface="Aptos"/>
              </a:defRPr>
            </a:pPr>
            <a:r>
              <a:rPr/>
              <a:t>Use this slide after learners have attempted all four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749808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41832" y="2112264"/>
            <a:ext cx="102778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1 —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32888"/>
            <a:ext cx="10277856" cy="54863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Verify through the official app or website separately; do not follow the unexpected 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10607040" cy="749808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41832" y="3072384"/>
            <a:ext cx="102778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6ABF"/>
                </a:solidFill>
                <a:latin typeface="Aptos"/>
              </a:defRPr>
            </a:pPr>
            <a:r>
              <a:rPr/>
              <a:t>2 —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493008"/>
            <a:ext cx="10277856" cy="54863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HTTPS encrypts the connection but does not guarantee that the operator is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10607040" cy="749808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C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41832" y="4032504"/>
            <a:ext cx="102778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CA4048"/>
                </a:solidFill>
                <a:latin typeface="Aptos"/>
              </a:defRPr>
            </a:pPr>
            <a:r>
              <a:rPr/>
              <a:t>3 — A and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453128"/>
            <a:ext cx="10277856" cy="54863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Requests for one-time codes and unexpected sender domains are warning signs.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46320"/>
            <a:ext cx="10607040" cy="749808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41832" y="4992624"/>
            <a:ext cx="1027785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78F68"/>
                </a:solidFill>
                <a:latin typeface="Aptos"/>
              </a:defRPr>
            </a:pPr>
            <a:r>
              <a:rPr/>
              <a:t>4 —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413248"/>
            <a:ext cx="10277856" cy="54863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B3D"/>
                </a:solidFill>
                <a:latin typeface="Aptos"/>
              </a:defRPr>
            </a:pPr>
            <a:r>
              <a:rPr/>
              <a:t>Change the exposed password from a trusted device, secure the account, and report promptly.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5F6F84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96112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08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19456"/>
            <a:ext cx="594360" cy="2743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5D0D6"/>
                </a:solidFill>
                <a:latin typeface="Aptos"/>
              </a:defRPr>
            </a:pPr>
            <a:r>
              <a:rPr/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F8FAFD"/>
                </a:solidFill>
                <a:latin typeface="Aptos"/>
              </a:defRPr>
            </a:pPr>
            <a:r>
              <a:rPr/>
              <a:t>Remember: pause, check,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BCCCE0"/>
                </a:solidFill>
                <a:latin typeface="Aptos"/>
              </a:defRPr>
            </a:pPr>
            <a:r>
              <a:rPr/>
              <a:t>Phishing succeeds when people are pressured to act before verifying.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383280" cy="15087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41832" y="2386584"/>
            <a:ext cx="30540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PAUSE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07208"/>
            <a:ext cx="3054096" cy="81381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rPr/>
              <a:t>Unexpected message? Slow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383280" cy="15087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35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53712" y="2386584"/>
            <a:ext cx="30540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807208"/>
            <a:ext cx="3054096" cy="81381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rPr/>
              <a:t>Use a trusted, independent channel.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240280"/>
            <a:ext cx="3383280" cy="1508760"/>
          </a:xfrm>
          <a:prstGeom prst="roundRect">
            <a:avLst/>
          </a:prstGeom>
          <a:solidFill>
            <a:srgbClr val="162A49"/>
          </a:solidFill>
          <a:ln w="16510">
            <a:solidFill>
              <a:srgbClr val="27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165592" y="2386584"/>
            <a:ext cx="3054096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35D0D6"/>
                </a:solidFill>
                <a:latin typeface="Aptos"/>
              </a:defRPr>
            </a:pPr>
            <a:r>
              <a:rPr/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2807208"/>
            <a:ext cx="3054096" cy="813815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rPr/>
              <a:t>Help protect yourself and others.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rPr/>
              <a:t>A careful check can prevent account takeover, financial loss, and exposure of personal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35D0D6"/>
                </a:solidFill>
                <a:latin typeface="Aptos"/>
              </a:defRPr>
            </a:pPr>
            <a:r>
              <a:rPr/>
              <a:t>End of training • Questions and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10881360" cy="164592"/>
          </a:xfrm>
          <a:prstGeom prst="rect">
            <a:avLst/>
          </a:prstGeom>
          <a:noFill/>
        </p:spPr>
        <p:txBody>
          <a:bodyPr wrap="square" lIns="73152" rIns="73152" anchor="ctr" tIns="32004" bIns="32004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A5B5CB"/>
                </a:solidFill>
                <a:latin typeface="Aptos"/>
              </a:defRPr>
            </a:pPr>
            <a:r>
              <a:rPr/>
              <a:t>CODEALPHA  •  CYBERSECURITY INTERNSHIP  •  PHISHING AWARENESS</a:t>
            </a:r>
          </a:p>
        </p:txBody>
      </p:sp>
    </p:spTree>
  </p:cSld>
  <p:clrMapOvr>
    <a:masterClrMapping/>
  </p:clrMapOvr>
  <p:transition advClick="1" advTm="8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CodeAlpha Cybersecurity Internship Task 2</dc:subject>
  <dc:creator>CodeAlpha Internship Project</dc:creator>
  <cp:keywords>phishing, cybersecurity, awareness, social engineering,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